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08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80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Chaplin.ai — an AI agent that gives ventilated patients their voice back. Reliable communication, not just lip-reading.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Millions of ventilated/intubated patients are conscious but can't speak. The tools that should help hallucinate confidently — and a wrong sentence is worse than silence. Three root causes: can't reason, no context, can't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stopped making the model guess harder and made it think. Chaplin.ai is a lip-reading AGENT — reliability over coverage. Three jobs: reason (lips to a fluent sentence), reflect (critique its own draft), act (fix once, or ask). When unsure it asks instead of asserting.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a reflection agent. VSR -&gt; Generate (one LLM drafts) -&gt; Reflect (LLM critic). It either RETURNs (speak it) or REVISEs once — N=1 — by looping back into the SAME Generate with edit_rules, then speaks, or asks if still unsure. Everything grounded in per-word VSR confidence. Reflect returns three fields: action (RETURN/REVISE), issues (type/span/description), edit_rules (what to fix).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C1C5-93EB-49F7-5537-4FBCF513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62967-663F-BC54-2216-D3927CF29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5E39E-F7BA-504C-EE11-55C147CFF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a reflection agent. VSR -&gt; Generate (one LLM drafts) -&gt; Reflect (LLM critic). It either RETURNs (speak it) or REVISEs once — N=1 — by looping back into the SAME Generate with edit_rules, then speaks, or asks if still unsure. Everything grounded in per-word VSR confidence. Reflect returns three fields: action (RETURN/REVISE), issues (type/span/description), edit_rules (what to fix).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D11F-25D4-7B17-F7F8-AA7086C61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26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reflection? We evaluated an LLM correcting the VSR output. Its mistakes were exactly two kinds: it drifted (semantically far from what was seen on the lips) or got unreasonable (implausible sentences). The two issue types — UNCERTAIN_SPAN and VISUAL_ALIGNMENT — are aimed straight at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the patient is understood in seconds; the clinician acts on real words, not a letter-board guessing game; the family hears them again, in a voice that sounds like them. Not open-ended chat — the handful of sentences that matter, gotten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reliability over coverage — an agent built so no one is ever misheard.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241B0F"/>
            </a:gs>
            <a:gs pos="42000">
              <a:srgbClr val="0F1014"/>
            </a:gs>
            <a:gs pos="100000">
              <a:srgbClr val="090B0F"/>
            </a:gs>
          </a:gsLst>
          <a:path path="circle">
            <a:fillToRect l="50000" t="118000" r="50000" b="11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ams\Desktop\Projects\lipreader\deck\assets\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777240"/>
            <a:ext cx="1115568" cy="1271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chaplin</a:t>
            </a:r>
            <a:r>
              <a:rPr lang="en-US" sz="7200" b="1" dirty="0">
                <a:solidFill>
                  <a:srgbClr val="E8A33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.ai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8A33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Speak Without a Voice </a:t>
            </a:r>
            <a:r>
              <a:rPr lang="en-US" sz="2200" dirty="0">
                <a:solidFill>
                  <a:srgbClr val="9DA4B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ARCHITECTURE     ·     WORKSHOP PITCH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C8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Chaplin 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08392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47C8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Adam &amp; Jonathan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rgbClr val="0C0E12"/>
            </a:gs>
            <a:gs pos="100000">
              <a:srgbClr val="15181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250" kern="0" spc="500" dirty="0">
                <a:solidFill>
                  <a:srgbClr val="9DA4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Awake.  Aware.  Silent.  </a:t>
            </a:r>
            <a:r>
              <a:rPr lang="en-US" sz="54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🤐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Millions of ventilated patients around the world unable to communicate effectively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59032" y="377855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tools in market? </a:t>
            </a:r>
            <a:r>
              <a:rPr lang="en-US" sz="2100" dirty="0">
                <a:solidFill>
                  <a:srgbClr val="E8A3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Confidently wrong. </a:t>
            </a:r>
            <a:r>
              <a:rPr lang="en-US" sz="2100" dirty="0">
                <a:solidFill>
                  <a:srgbClr val="E8A33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</a:p>
          <a:p>
            <a:pPr marL="0" indent="0" algn="l">
              <a:buNone/>
            </a:pPr>
            <a:endParaRPr lang="en-US" sz="2100" dirty="0">
              <a:solidFill>
                <a:srgbClr val="E8A33D"/>
              </a:solidFill>
              <a:latin typeface="Segoe UI Emoji" pitchFamily="34" charset="0"/>
              <a:ea typeface="Segoe UI Emoji" pitchFamily="34" charset="-122"/>
              <a:cs typeface="Segoe UI Emoji" pitchFamily="34" charset="-120"/>
            </a:endParaRPr>
          </a:p>
          <a:p>
            <a:r>
              <a:rPr lang="en-US" sz="21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Lip reading models hallucinate, produce</a:t>
            </a:r>
          </a:p>
          <a:p>
            <a:r>
              <a:rPr lang="en-US" sz="21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Poor results.</a:t>
            </a:r>
          </a:p>
        </p:txBody>
      </p:sp>
      <p:sp>
        <p:nvSpPr>
          <p:cNvPr id="6" name="Text 4"/>
          <p:cNvSpPr/>
          <p:nvPr/>
        </p:nvSpPr>
        <p:spPr>
          <a:xfrm>
            <a:off x="9139348" y="2598896"/>
            <a:ext cx="32812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r>
              <a:rPr lang="en-US" sz="20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Can't reason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39349" y="4689663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r>
              <a:rPr lang="en-US" sz="20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No context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39348" y="361860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r>
              <a:rPr lang="en-US" sz="20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Can't 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24830" y="528351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040880" y="5760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058400" y="5760720"/>
            <a:ext cx="1307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F0E5B6-173A-D918-73D9-A8E176AC18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95"/>
          <a:stretch>
            <a:fillRect/>
          </a:stretch>
        </p:blipFill>
        <p:spPr>
          <a:xfrm>
            <a:off x="2342837" y="0"/>
            <a:ext cx="652902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B3E310E-338F-8B31-9A81-133A3DF89355}"/>
              </a:ext>
            </a:extLst>
          </p:cNvPr>
          <p:cNvSpPr/>
          <p:nvPr/>
        </p:nvSpPr>
        <p:spPr>
          <a:xfrm>
            <a:off x="3488871" y="478971"/>
            <a:ext cx="5382986" cy="1240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I said:</a:t>
            </a:r>
            <a:br>
              <a:rPr lang="en-US" sz="3200" dirty="0"/>
            </a:br>
            <a:r>
              <a:rPr lang="en-US" sz="3200" dirty="0"/>
              <a:t>“What are you doing here ?”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rgbClr val="0C0E12"/>
            </a:gs>
            <a:gs pos="100000">
              <a:srgbClr val="15181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250" kern="0" spc="500" dirty="0">
                <a:solidFill>
                  <a:srgbClr val="9DA4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 THE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Make it </a:t>
            </a:r>
            <a:r>
              <a:rPr lang="en-US" sz="4600" b="1" dirty="0">
                <a:solidFill>
                  <a:srgbClr val="E8A33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think</a:t>
            </a:r>
            <a:r>
              <a:rPr lang="en-US" sz="46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  </a:t>
            </a:r>
            <a:r>
              <a:rPr lang="en-US" sz="46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 agent. Not a model.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246120" cy="457200"/>
          </a:xfrm>
          <a:prstGeom prst="roundRect">
            <a:avLst>
              <a:gd name="adj" fmla="val 24000"/>
            </a:avLst>
          </a:prstGeom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 OVER  COVERAGE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3374136" cy="2331720"/>
          </a:xfrm>
          <a:prstGeom prst="roundRect">
            <a:avLst>
              <a:gd name="adj" fmla="val 3922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315968"/>
            <a:ext cx="2825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REASON   </a:t>
            </a:r>
            <a:r>
              <a:rPr lang="en-US" sz="24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4983480"/>
            <a:ext cx="2825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Correct VSR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07408" y="3657600"/>
            <a:ext cx="3374136" cy="2331720"/>
          </a:xfrm>
          <a:prstGeom prst="roundRect">
            <a:avLst>
              <a:gd name="adj" fmla="val 3922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81728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1728" y="4315968"/>
            <a:ext cx="2825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REFLECT   </a:t>
            </a:r>
            <a:r>
              <a:rPr lang="en-US" sz="24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81728" y="4983480"/>
            <a:ext cx="2825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Check its own draft.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1856" y="3657600"/>
            <a:ext cx="3374136" cy="2331720"/>
          </a:xfrm>
          <a:prstGeom prst="roundRect">
            <a:avLst>
              <a:gd name="adj" fmla="val 3922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66176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6176" y="4315968"/>
            <a:ext cx="2825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ACT   </a:t>
            </a:r>
            <a:r>
              <a:rPr lang="en-US" sz="24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66176" y="4983480"/>
            <a:ext cx="2825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Fix — or ask.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rgbClr val="0C0E12"/>
            </a:gs>
            <a:gs pos="100000">
              <a:srgbClr val="15181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250" kern="0" spc="500" dirty="0">
                <a:solidFill>
                  <a:srgbClr val="9DA4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reflection agent.  </a:t>
            </a:r>
            <a:r>
              <a:rPr lang="en-US" sz="40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Draft.  Critique.  Speak.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178308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F4F2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VSR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lips → 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6120" y="3108960"/>
            <a:ext cx="196596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F4F2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46120" y="3108960"/>
            <a:ext cx="1965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Corrects 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VSR prediction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97880" y="3108960"/>
            <a:ext cx="178308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97880" y="3108960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Reflect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0" y="3108960"/>
            <a:ext cx="187452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84BE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18320" y="3108960"/>
            <a:ext cx="1874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84BE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DA4B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their voice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60904" y="3557016"/>
            <a:ext cx="530352" cy="0"/>
          </a:xfrm>
          <a:prstGeom prst="line">
            <a:avLst/>
          </a:prstGeom>
          <a:noFill/>
          <a:ln w="28575">
            <a:solidFill>
              <a:srgbClr val="F4F2ED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66944" y="3557016"/>
            <a:ext cx="576072" cy="0"/>
          </a:xfrm>
          <a:prstGeom prst="line">
            <a:avLst/>
          </a:prstGeom>
          <a:noFill/>
          <a:ln w="28575">
            <a:solidFill>
              <a:srgbClr val="F4F2ED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735824" y="3557016"/>
            <a:ext cx="1627632" cy="0"/>
          </a:xfrm>
          <a:prstGeom prst="line">
            <a:avLst/>
          </a:prstGeom>
          <a:noFill/>
          <a:ln w="28575">
            <a:solidFill>
              <a:srgbClr val="84BE96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0960" y="30998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0" y="4114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unsure?  ask first  </a:t>
            </a:r>
            <a:r>
              <a:rPr lang="en-US" sz="1100" dirty="0">
                <a:solidFill>
                  <a:srgbClr val="F4C87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89420" y="4005072"/>
            <a:ext cx="0" cy="86868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229100" y="4873752"/>
            <a:ext cx="256032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 flipV="1">
            <a:off x="4229100" y="4005072"/>
            <a:ext cx="0" cy="86868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37660" y="4910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</a:t>
            </a:r>
            <a:r>
              <a:rPr lang="en-US" sz="1200" dirty="0">
                <a:solidFill>
                  <a:srgbClr val="F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N =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 returns    </a:t>
            </a: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4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</a:t>
            </a:r>
            <a:r>
              <a:rPr lang="en-US" sz="14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edit_rules</a:t>
            </a:r>
            <a:endParaRPr lang="en-US" sz="1400" dirty="0"/>
          </a:p>
        </p:txBody>
      </p:sp>
      <p:sp>
        <p:nvSpPr>
          <p:cNvPr id="50" name="ToolInvoker Box"/>
          <p:cNvSpPr/>
          <p:nvPr/>
        </p:nvSpPr>
        <p:spPr>
          <a:xfrm>
            <a:off x="8183880" y="1828800"/>
            <a:ext cx="2240280" cy="786384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oolInvoker Text"/>
          <p:cNvSpPr/>
          <p:nvPr/>
        </p:nvSpPr>
        <p:spPr>
          <a:xfrm>
            <a:off x="8183880" y="1828800"/>
            <a:ext cx="2240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2BB673"/>
                </a:solidFill>
                <a:latin typeface="Segoe UI Semibold" pitchFamily="34" charset="0"/>
                <a:cs typeface="Segoe UI Semibold" pitchFamily="34" charset="0"/>
              </a:rPr>
              <a:t>ToolInvoker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9DA4B0"/>
                </a:solidFill>
                <a:latin typeface="Segoe UI Emoji" pitchFamily="34" charset="0"/>
                <a:cs typeface="Segoe UI Emoji" pitchFamily="34" charset="0"/>
              </a:rPr>
              <a:t>🛠️</a:t>
            </a:r>
            <a:r>
              <a:rPr lang="en-US" sz="105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phone call, SMS</a:t>
            </a:r>
          </a:p>
        </p:txBody>
      </p:sp>
      <p:sp>
        <p:nvSpPr>
          <p:cNvPr id="52" name="FanOut Arrow"/>
          <p:cNvSpPr/>
          <p:nvPr/>
        </p:nvSpPr>
        <p:spPr>
          <a:xfrm flipV="1">
            <a:off x="7735824" y="2615184"/>
            <a:ext cx="859536" cy="786384"/>
          </a:xfrm>
          <a:prstGeom prst="line">
            <a:avLst/>
          </a:prstGeom>
          <a:noFill/>
          <a:ln w="28575">
            <a:solidFill>
              <a:srgbClr val="2BB673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ReAct Caption"/>
          <p:cNvSpPr/>
          <p:nvPr/>
        </p:nvSpPr>
        <p:spPr>
          <a:xfrm>
            <a:off x="8183880" y="14630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2BB673"/>
                </a:solidFill>
                <a:latin typeface="Segoe UI Semibold" pitchFamily="34" charset="0"/>
                <a:cs typeface="Segoe UI Semibold" pitchFamily="34" charset="0"/>
              </a:rPr>
              <a:t>ReAct agent</a:t>
            </a:r>
          </a:p>
        </p:txBody>
      </p:sp>
      <p:sp>
        <p:nvSpPr>
          <p:cNvPr id="54" name="FanOut Label"/>
          <p:cNvSpPr/>
          <p:nvPr/>
        </p:nvSpPr>
        <p:spPr>
          <a:xfrm>
            <a:off x="6858000" y="2651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C9CDD4"/>
                </a:solidFill>
                <a:latin typeface="Segoe UI" pitchFamily="34" charset="0"/>
                <a:cs typeface="Segoe UI" pitchFamily="34" charset="0"/>
              </a:rPr>
              <a:t>fan out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5BC8CA7-8A16-771F-33A4-C8149F771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854" y="5506727"/>
            <a:ext cx="1130292" cy="1132470"/>
          </a:xfrm>
          <a:prstGeom prst="rect">
            <a:avLst/>
          </a:prstGeom>
        </p:spPr>
      </p:pic>
      <p:sp>
        <p:nvSpPr>
          <p:cNvPr id="60" name="Generate Icons"/>
          <p:cNvSpPr/>
          <p:nvPr/>
        </p:nvSpPr>
        <p:spPr>
          <a:xfrm>
            <a:off x="4590288" y="31455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0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</a:t>
            </a:r>
            <a:r>
              <a:rPr lang="en-US" sz="10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</a:p>
        </p:txBody>
      </p:sp>
      <p:sp>
        <p:nvSpPr>
          <p:cNvPr id="61" name="Reflect Icons"/>
          <p:cNvSpPr/>
          <p:nvPr/>
        </p:nvSpPr>
        <p:spPr>
          <a:xfrm>
            <a:off x="7059168" y="31455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0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</a:t>
            </a:r>
            <a:r>
              <a:rPr lang="en-US" sz="10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</a:p>
        </p:txBody>
      </p:sp>
      <p:sp>
        <p:nvSpPr>
          <p:cNvPr id="62" name="ToolInvoker Icons"/>
          <p:cNvSpPr/>
          <p:nvPr/>
        </p:nvSpPr>
        <p:spPr>
          <a:xfrm>
            <a:off x="9802368" y="18653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0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</a:t>
            </a:r>
            <a:r>
              <a:rPr lang="en-US" sz="10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</a:p>
        </p:txBody>
      </p:sp>
      <p:sp>
        <p:nvSpPr>
          <p:cNvPr id="63" name="Icon Legend"/>
          <p:cNvSpPr/>
          <p:nvPr/>
        </p:nvSpPr>
        <p:spPr>
          <a:xfrm>
            <a:off x="5989320" y="59436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short-term memory       </a:t>
            </a:r>
            <a:r>
              <a:rPr lang="en-US" sz="11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patient's background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0E12"/>
            </a:gs>
            <a:gs pos="100000">
              <a:srgbClr val="15181E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10519-8FA1-5B94-B411-2EF4A43E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905F43C-3917-976D-DB39-BA5A4E4B8DB9}"/>
              </a:ext>
            </a:extLst>
          </p:cNvPr>
          <p:cNvSpPr/>
          <p:nvPr/>
        </p:nvSpPr>
        <p:spPr>
          <a:xfrm>
            <a:off x="573657" y="627829"/>
            <a:ext cx="7518783" cy="166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E902E0E-2DD2-816E-3D83-79EB465B2BE6}"/>
              </a:ext>
            </a:extLst>
          </p:cNvPr>
          <p:cNvSpPr/>
          <p:nvPr/>
        </p:nvSpPr>
        <p:spPr>
          <a:xfrm>
            <a:off x="640080" y="22549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250" kern="0" spc="500" dirty="0">
                <a:solidFill>
                  <a:srgbClr val="9DA4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 ARCHITECTURE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0A27F-7111-8B99-A96B-C968CD980FFE}"/>
              </a:ext>
            </a:extLst>
          </p:cNvPr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F7187B-F51B-73C3-95FC-4F10FB10B881}"/>
              </a:ext>
            </a:extLst>
          </p:cNvPr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50E3FE-98FB-9B57-DD56-A51F61031139}"/>
              </a:ext>
            </a:extLst>
          </p:cNvPr>
          <p:cNvSpPr/>
          <p:nvPr/>
        </p:nvSpPr>
        <p:spPr>
          <a:xfrm>
            <a:off x="822960" y="3108960"/>
            <a:ext cx="178308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F4F2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DDC218-0267-E87C-D359-19E8ABCAEEFA}"/>
              </a:ext>
            </a:extLst>
          </p:cNvPr>
          <p:cNvSpPr/>
          <p:nvPr/>
        </p:nvSpPr>
        <p:spPr>
          <a:xfrm>
            <a:off x="822960" y="3108960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VSR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lips → text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BEDB296-F23F-0535-9C24-E3B3C1401DEA}"/>
              </a:ext>
            </a:extLst>
          </p:cNvPr>
          <p:cNvSpPr/>
          <p:nvPr/>
        </p:nvSpPr>
        <p:spPr>
          <a:xfrm>
            <a:off x="3246120" y="3108960"/>
            <a:ext cx="196596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F4F2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963019-89AA-D321-F6AB-9781390CBA5F}"/>
              </a:ext>
            </a:extLst>
          </p:cNvPr>
          <p:cNvSpPr/>
          <p:nvPr/>
        </p:nvSpPr>
        <p:spPr>
          <a:xfrm>
            <a:off x="3246120" y="3108960"/>
            <a:ext cx="1965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Corrects 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VSR prediction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EA6BE1-F4B9-9274-636C-7DA48069013B}"/>
              </a:ext>
            </a:extLst>
          </p:cNvPr>
          <p:cNvSpPr/>
          <p:nvPr/>
        </p:nvSpPr>
        <p:spPr>
          <a:xfrm>
            <a:off x="5897880" y="3108960"/>
            <a:ext cx="178308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80F190-A5BB-836E-AD09-0699975E0993}"/>
              </a:ext>
            </a:extLst>
          </p:cNvPr>
          <p:cNvSpPr/>
          <p:nvPr/>
        </p:nvSpPr>
        <p:spPr>
          <a:xfrm>
            <a:off x="5897880" y="3108960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Reflect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745FA93-20BE-523C-2C6A-398644A5924E}"/>
              </a:ext>
            </a:extLst>
          </p:cNvPr>
          <p:cNvSpPr/>
          <p:nvPr/>
        </p:nvSpPr>
        <p:spPr>
          <a:xfrm>
            <a:off x="9418320" y="3108960"/>
            <a:ext cx="1874520" cy="896112"/>
          </a:xfrm>
          <a:prstGeom prst="roundRect">
            <a:avLst>
              <a:gd name="adj" fmla="val 9184"/>
            </a:avLst>
          </a:prstGeom>
          <a:solidFill>
            <a:srgbClr val="171B22"/>
          </a:solidFill>
          <a:ln w="19050">
            <a:solidFill>
              <a:srgbClr val="84BE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345662-073C-45E8-8256-23D89CC9D365}"/>
              </a:ext>
            </a:extLst>
          </p:cNvPr>
          <p:cNvSpPr/>
          <p:nvPr/>
        </p:nvSpPr>
        <p:spPr>
          <a:xfrm>
            <a:off x="9418320" y="3108960"/>
            <a:ext cx="1874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84BE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DA4B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their voice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242F588-BABB-7C46-6989-E09189243FDD}"/>
              </a:ext>
            </a:extLst>
          </p:cNvPr>
          <p:cNvSpPr/>
          <p:nvPr/>
        </p:nvSpPr>
        <p:spPr>
          <a:xfrm>
            <a:off x="2660904" y="3557016"/>
            <a:ext cx="530352" cy="0"/>
          </a:xfrm>
          <a:prstGeom prst="line">
            <a:avLst/>
          </a:prstGeom>
          <a:noFill/>
          <a:ln w="28575">
            <a:solidFill>
              <a:srgbClr val="F4F2ED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90B9F79-2224-EC5E-5029-AFDBA4C95659}"/>
              </a:ext>
            </a:extLst>
          </p:cNvPr>
          <p:cNvSpPr/>
          <p:nvPr/>
        </p:nvSpPr>
        <p:spPr>
          <a:xfrm>
            <a:off x="5266944" y="3557016"/>
            <a:ext cx="576072" cy="0"/>
          </a:xfrm>
          <a:prstGeom prst="line">
            <a:avLst/>
          </a:prstGeom>
          <a:noFill/>
          <a:ln w="28575">
            <a:solidFill>
              <a:srgbClr val="F4F2ED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4C247E5-C90D-6B4F-DF6F-AA0446276A51}"/>
              </a:ext>
            </a:extLst>
          </p:cNvPr>
          <p:cNvSpPr/>
          <p:nvPr/>
        </p:nvSpPr>
        <p:spPr>
          <a:xfrm>
            <a:off x="7735824" y="3557016"/>
            <a:ext cx="1627632" cy="0"/>
          </a:xfrm>
          <a:prstGeom prst="line">
            <a:avLst/>
          </a:prstGeom>
          <a:noFill/>
          <a:ln w="28575">
            <a:solidFill>
              <a:srgbClr val="84BE96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5690E69-AC9A-A5F0-2537-83F9E4D6FE6C}"/>
              </a:ext>
            </a:extLst>
          </p:cNvPr>
          <p:cNvSpPr/>
          <p:nvPr/>
        </p:nvSpPr>
        <p:spPr>
          <a:xfrm>
            <a:off x="7680960" y="30998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B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12C72E-414C-7664-5B24-C18FD7340113}"/>
              </a:ext>
            </a:extLst>
          </p:cNvPr>
          <p:cNvSpPr/>
          <p:nvPr/>
        </p:nvSpPr>
        <p:spPr>
          <a:xfrm>
            <a:off x="9418320" y="4114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unsure?  ask first  </a:t>
            </a:r>
            <a:r>
              <a:rPr lang="en-US" sz="1100" dirty="0">
                <a:solidFill>
                  <a:srgbClr val="F4C87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🙋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CD0050F-AEBD-D69D-D326-6820091525AD}"/>
              </a:ext>
            </a:extLst>
          </p:cNvPr>
          <p:cNvSpPr/>
          <p:nvPr/>
        </p:nvSpPr>
        <p:spPr>
          <a:xfrm>
            <a:off x="6789420" y="4005072"/>
            <a:ext cx="0" cy="86868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0B578DF-9EDE-771A-983E-8B661577EC70}"/>
              </a:ext>
            </a:extLst>
          </p:cNvPr>
          <p:cNvSpPr/>
          <p:nvPr/>
        </p:nvSpPr>
        <p:spPr>
          <a:xfrm>
            <a:off x="4229100" y="4873752"/>
            <a:ext cx="256032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5E6781A-CCEB-1563-DDE1-FD65EA790DF9}"/>
              </a:ext>
            </a:extLst>
          </p:cNvPr>
          <p:cNvSpPr/>
          <p:nvPr/>
        </p:nvSpPr>
        <p:spPr>
          <a:xfrm flipV="1">
            <a:off x="4229100" y="4005072"/>
            <a:ext cx="0" cy="86868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7B8D906-B5F2-1BF5-B85A-60769FCA4406}"/>
              </a:ext>
            </a:extLst>
          </p:cNvPr>
          <p:cNvSpPr/>
          <p:nvPr/>
        </p:nvSpPr>
        <p:spPr>
          <a:xfrm>
            <a:off x="4137660" y="4910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</a:t>
            </a:r>
            <a:r>
              <a:rPr lang="en-US" sz="1200" dirty="0">
                <a:solidFill>
                  <a:srgbClr val="F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N = 1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79E102-3477-BD40-8EA9-383F17DCB4F1}"/>
              </a:ext>
            </a:extLst>
          </p:cNvPr>
          <p:cNvSpPr/>
          <p:nvPr/>
        </p:nvSpPr>
        <p:spPr>
          <a:xfrm>
            <a:off x="822960" y="5989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A4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 returns    </a:t>
            </a: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r>
              <a:rPr lang="en-US" sz="14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</a:t>
            </a:r>
            <a:r>
              <a:rPr lang="en-US" sz="14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edit_rules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0262E5-B916-8794-D3DA-E48B173FD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854" y="5506727"/>
            <a:ext cx="1130292" cy="1132470"/>
          </a:xfrm>
          <a:prstGeom prst="rect">
            <a:avLst/>
          </a:prstGeom>
        </p:spPr>
      </p:pic>
      <p:sp>
        <p:nvSpPr>
          <p:cNvPr id="60" name="Generate Icons">
            <a:extLst>
              <a:ext uri="{FF2B5EF4-FFF2-40B4-BE49-F238E27FC236}">
                <a16:creationId xmlns:a16="http://schemas.microsoft.com/office/drawing/2014/main" id="{9827F2BD-B95B-77D5-813A-13EDFE52D404}"/>
              </a:ext>
            </a:extLst>
          </p:cNvPr>
          <p:cNvSpPr/>
          <p:nvPr/>
        </p:nvSpPr>
        <p:spPr>
          <a:xfrm>
            <a:off x="4590288" y="31455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0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</a:t>
            </a:r>
            <a:r>
              <a:rPr lang="en-US" sz="10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</a:p>
        </p:txBody>
      </p:sp>
      <p:sp>
        <p:nvSpPr>
          <p:cNvPr id="61" name="Reflect Icons">
            <a:extLst>
              <a:ext uri="{FF2B5EF4-FFF2-40B4-BE49-F238E27FC236}">
                <a16:creationId xmlns:a16="http://schemas.microsoft.com/office/drawing/2014/main" id="{41685DA2-CA57-B154-341D-10D6F9334F8B}"/>
              </a:ext>
            </a:extLst>
          </p:cNvPr>
          <p:cNvSpPr/>
          <p:nvPr/>
        </p:nvSpPr>
        <p:spPr>
          <a:xfrm>
            <a:off x="7059168" y="31455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0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</a:t>
            </a:r>
            <a:r>
              <a:rPr lang="en-US" sz="10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</a:p>
        </p:txBody>
      </p:sp>
      <p:sp>
        <p:nvSpPr>
          <p:cNvPr id="63" name="Icon Legend">
            <a:extLst>
              <a:ext uri="{FF2B5EF4-FFF2-40B4-BE49-F238E27FC236}">
                <a16:creationId xmlns:a16="http://schemas.microsoft.com/office/drawing/2014/main" id="{0DCEBA2E-2626-641C-E4E2-C9427DD6D5F2}"/>
              </a:ext>
            </a:extLst>
          </p:cNvPr>
          <p:cNvSpPr/>
          <p:nvPr/>
        </p:nvSpPr>
        <p:spPr>
          <a:xfrm>
            <a:off x="5989320" y="59436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C878"/>
                </a:solidFill>
                <a:latin typeface="Segoe UI Emoji" pitchFamily="34" charset="0"/>
                <a:cs typeface="Segoe UI Emoji" pitchFamily="34" charset="0"/>
              </a:rPr>
              <a:t>🧠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short-term memory       </a:t>
            </a:r>
            <a:r>
              <a:rPr lang="en-US" sz="1100" dirty="0">
                <a:solidFill>
                  <a:srgbClr val="84BE96"/>
                </a:solidFill>
                <a:latin typeface="Segoe UI Emoji" pitchFamily="34" charset="0"/>
                <a:cs typeface="Segoe UI Emoji" pitchFamily="34" charset="0"/>
              </a:rPr>
              <a:t>📋</a:t>
            </a:r>
            <a:r>
              <a:rPr lang="en-US" sz="11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  patient's background</a:t>
            </a:r>
          </a:p>
        </p:txBody>
      </p:sp>
      <p:sp>
        <p:nvSpPr>
          <p:cNvPr id="70" name="Example Scenario">
            <a:extLst>
              <a:ext uri="{FF2B5EF4-FFF2-40B4-BE49-F238E27FC236}">
                <a16:creationId xmlns:a16="http://schemas.microsoft.com/office/drawing/2014/main" id="{4ED26EEB-EE22-F7DE-609C-B222B8FD985F}"/>
              </a:ext>
            </a:extLst>
          </p:cNvPr>
          <p:cNvSpPr/>
          <p:nvPr/>
        </p:nvSpPr>
        <p:spPr>
          <a:xfrm>
            <a:off x="853440" y="1188979"/>
            <a:ext cx="10027647" cy="3657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9DA4B0"/>
                </a:solidFill>
                <a:latin typeface="Segoe UI" pitchFamily="34" charset="0"/>
                <a:cs typeface="Segoe UI" pitchFamily="34" charset="0"/>
              </a:rPr>
              <a:t>Example:  </a:t>
            </a:r>
          </a:p>
          <a:p>
            <a:pPr marL="0" indent="0" algn="l">
              <a:buNone/>
            </a:pPr>
            <a:r>
              <a:rPr lang="en-US" sz="2800" b="1" dirty="0">
                <a:solidFill>
                  <a:srgbClr val="F4F2ED"/>
                </a:solidFill>
                <a:latin typeface="Consolas" pitchFamily="49" charset="0"/>
                <a:cs typeface="Consolas" pitchFamily="49" charset="0"/>
              </a:rPr>
              <a:t>“what are you doing here”</a:t>
            </a:r>
          </a:p>
        </p:txBody>
      </p:sp>
      <p:sp>
        <p:nvSpPr>
          <p:cNvPr id="71" name="Example VSR">
            <a:extLst>
              <a:ext uri="{FF2B5EF4-FFF2-40B4-BE49-F238E27FC236}">
                <a16:creationId xmlns:a16="http://schemas.microsoft.com/office/drawing/2014/main" id="{1ED810A7-4271-7EFA-345B-E86E7778E268}"/>
              </a:ext>
            </a:extLst>
          </p:cNvPr>
          <p:cNvSpPr/>
          <p:nvPr/>
        </p:nvSpPr>
        <p:spPr>
          <a:xfrm>
            <a:off x="491317" y="2482596"/>
            <a:ext cx="2496485" cy="74980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DA4B0"/>
                </a:solidFill>
                <a:latin typeface="Segoe UI Semibold" pitchFamily="34" charset="0"/>
                <a:cs typeface="Segoe UI Semibold" pitchFamily="34" charset="0"/>
              </a:rPr>
              <a:t>VSR PREDICTS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5736A"/>
                </a:solidFill>
                <a:latin typeface="Consolas" pitchFamily="49" charset="0"/>
                <a:cs typeface="Consolas" pitchFamily="49" charset="0"/>
              </a:rPr>
              <a:t>“whats are yours going </a:t>
            </a:r>
            <a:r>
              <a:rPr lang="en-US" sz="1100" b="1" dirty="0" err="1">
                <a:solidFill>
                  <a:srgbClr val="E5736A"/>
                </a:solidFill>
                <a:latin typeface="Consolas" pitchFamily="49" charset="0"/>
                <a:cs typeface="Consolas" pitchFamily="49" charset="0"/>
              </a:rPr>
              <a:t>tkmmm</a:t>
            </a:r>
            <a:r>
              <a:rPr lang="en-US" sz="1100" b="1" dirty="0">
                <a:solidFill>
                  <a:srgbClr val="E5736A"/>
                </a:solidFill>
                <a:latin typeface="Consolas" pitchFamily="49" charset="0"/>
                <a:cs typeface="Consolas" pitchFamily="49" charset="0"/>
              </a:rPr>
              <a:t>”</a:t>
            </a:r>
          </a:p>
        </p:txBody>
      </p:sp>
      <p:sp>
        <p:nvSpPr>
          <p:cNvPr id="72" name="Example Generate">
            <a:extLst>
              <a:ext uri="{FF2B5EF4-FFF2-40B4-BE49-F238E27FC236}">
                <a16:creationId xmlns:a16="http://schemas.microsoft.com/office/drawing/2014/main" id="{7D24E490-1A97-3B11-B524-062FFA444C8A}"/>
              </a:ext>
            </a:extLst>
          </p:cNvPr>
          <p:cNvSpPr/>
          <p:nvPr/>
        </p:nvSpPr>
        <p:spPr>
          <a:xfrm>
            <a:off x="3140964" y="2510028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9DA4B0"/>
                </a:solidFill>
                <a:latin typeface="Segoe UI Semibold" pitchFamily="34" charset="0"/>
                <a:cs typeface="Segoe UI Semibold" pitchFamily="34" charset="0"/>
              </a:rPr>
              <a:t>GENERATE · DRAFT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Consolas" pitchFamily="49" charset="0"/>
                <a:cs typeface="Consolas" pitchFamily="49" charset="0"/>
              </a:rPr>
              <a:t>“what are your doing here?”</a:t>
            </a:r>
          </a:p>
        </p:txBody>
      </p:sp>
      <p:sp>
        <p:nvSpPr>
          <p:cNvPr id="73" name="Example Reflect">
            <a:extLst>
              <a:ext uri="{FF2B5EF4-FFF2-40B4-BE49-F238E27FC236}">
                <a16:creationId xmlns:a16="http://schemas.microsoft.com/office/drawing/2014/main" id="{956BEC3D-7B59-E972-0C75-37AE40C38087}"/>
              </a:ext>
            </a:extLst>
          </p:cNvPr>
          <p:cNvSpPr/>
          <p:nvPr/>
        </p:nvSpPr>
        <p:spPr>
          <a:xfrm>
            <a:off x="5266944" y="244144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4BE96"/>
                </a:solidFill>
                <a:latin typeface="Segoe UI Semibold" pitchFamily="34" charset="0"/>
                <a:cs typeface="Segoe UI Semibold" pitchFamily="34" charset="0"/>
              </a:rPr>
              <a:t>REFLECT · FINAL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4BE96"/>
                </a:solidFill>
                <a:latin typeface="Consolas" pitchFamily="49" charset="0"/>
                <a:cs typeface="Consolas" pitchFamily="49" charset="0"/>
              </a:rPr>
              <a:t>“what are you doing here”</a:t>
            </a:r>
          </a:p>
        </p:txBody>
      </p:sp>
    </p:spTree>
    <p:extLst>
      <p:ext uri="{BB962C8B-B14F-4D97-AF65-F5344CB8AC3E}">
        <p14:creationId xmlns:p14="http://schemas.microsoft.com/office/powerpoint/2010/main" val="352490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rgbClr val="0C0E12"/>
            </a:gs>
            <a:gs pos="100000">
              <a:srgbClr val="15181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250" kern="0" spc="500" dirty="0">
                <a:solidFill>
                  <a:srgbClr val="9DA4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 WHY REFLECTOR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Not random.  </a:t>
            </a:r>
            <a:r>
              <a:rPr lang="en-US" sz="4400" b="1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We tested it with LLM corrector. Two consistent failures: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88720" y="289864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SAW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22783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0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Drifted   </a:t>
            </a:r>
            <a:r>
              <a:rPr lang="en-US" sz="2600" b="1" dirty="0">
                <a:solidFill>
                  <a:srgbClr val="E0705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🌀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3840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Off from the lips.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88720" y="44805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84BE96"/>
          </a:solidFill>
          <a:ln w="12700">
            <a:solidFill>
              <a:srgbClr val="84BE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8720" y="44805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0E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Reflector fixes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49651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1072" y="260604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56832" y="289864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47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SAW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6832" y="322783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0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Unreasonable   </a:t>
            </a:r>
            <a:r>
              <a:rPr lang="en-US" sz="2600" b="1" dirty="0">
                <a:solidFill>
                  <a:srgbClr val="E0705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56832" y="3840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sentence grammatically incorrect.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56832" y="44805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84BE96"/>
          </a:solidFill>
          <a:ln w="12700">
            <a:solidFill>
              <a:srgbClr val="84BE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56832" y="44805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0E12"/>
                </a:solidFill>
                <a:latin typeface="Consolas" pitchFamily="34" charset="0"/>
              </a:rPr>
              <a:t>Reflector fixes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56832" y="49651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rgbClr val="241B0F"/>
            </a:gs>
            <a:gs pos="42000">
              <a:srgbClr val="0F1014"/>
            </a:gs>
            <a:gs pos="100000">
              <a:srgbClr val="090B0F"/>
            </a:gs>
          </a:gsLst>
          <a:path path="circle">
            <a:fillToRect l="50000" t="118000" r="50000" b="11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250" kern="0" spc="500" dirty="0">
                <a:solidFill>
                  <a:srgbClr val="9DA4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  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voice — </a:t>
            </a:r>
            <a:r>
              <a:rPr lang="en-US" sz="4600" b="1" dirty="0">
                <a:solidFill>
                  <a:srgbClr val="E8A33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given back.  </a:t>
            </a:r>
            <a:r>
              <a:rPr lang="en-US" sz="4600" b="1" dirty="0">
                <a:solidFill>
                  <a:srgbClr val="E8A33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❤️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3374136" cy="2148840"/>
          </a:xfrm>
          <a:prstGeom prst="roundRect">
            <a:avLst>
              <a:gd name="adj" fmla="val 4255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3856" y="3145536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🛏️</a:t>
            </a:r>
            <a:r>
              <a:rPr lang="en-US" sz="19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The patient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3856" y="37947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“I'm in pain.” Heard.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07408" y="2834640"/>
            <a:ext cx="3374136" cy="2148840"/>
          </a:xfrm>
          <a:prstGeom prst="roundRect">
            <a:avLst>
              <a:gd name="adj" fmla="val 4255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18304" y="3145536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r>
              <a:rPr lang="en-US" sz="19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The clinician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18304" y="37947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Understanding patient.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 more guessing.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91856" y="2834640"/>
            <a:ext cx="3374136" cy="2148840"/>
          </a:xfrm>
          <a:prstGeom prst="roundRect">
            <a:avLst>
              <a:gd name="adj" fmla="val 4255"/>
            </a:avLst>
          </a:prstGeom>
          <a:solidFill>
            <a:srgbClr val="171B22"/>
          </a:solidFill>
          <a:ln w="12700">
            <a:solidFill>
              <a:srgbClr val="2F35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2752" y="3145536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4F2E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👪</a:t>
            </a:r>
            <a:r>
              <a:rPr lang="en-US" sz="1900" dirty="0">
                <a:solidFill>
                  <a:srgbClr val="F4F2E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The family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02752" y="37947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Their voice, again.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4C8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sentences that matter.  </a:t>
            </a:r>
            <a:r>
              <a:rPr lang="en-US" sz="1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rgbClr val="241B0F"/>
            </a:gs>
            <a:gs pos="42000">
              <a:srgbClr val="0F1014"/>
            </a:gs>
            <a:gs pos="100000">
              <a:srgbClr val="090B0F"/>
            </a:gs>
          </a:gsLst>
          <a:path path="circle">
            <a:fillToRect l="50000" t="118000" r="50000" b="11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ams\Desktop\Projects\lipreader\deck\assets\ic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868680"/>
            <a:ext cx="896112" cy="10241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4F2E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chaplin</a:t>
            </a:r>
            <a:r>
              <a:rPr lang="en-US" sz="6200" b="1" dirty="0">
                <a:solidFill>
                  <a:srgbClr val="E8A33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.ai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Speak Without a Voice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9DA4B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 one misheard.  </a:t>
            </a:r>
            <a:r>
              <a:rPr lang="en-US" sz="2100" dirty="0">
                <a:solidFill>
                  <a:srgbClr val="9DA4B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🙌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187038" y="5142586"/>
            <a:ext cx="38405" cy="230429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281449" y="4986320"/>
            <a:ext cx="38405" cy="542960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375861" y="4988708"/>
            <a:ext cx="38405" cy="53818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470273" y="5101923"/>
            <a:ext cx="38405" cy="31175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64685" y="5134000"/>
            <a:ext cx="38405" cy="247599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659097" y="5084943"/>
            <a:ext cx="38405" cy="345715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753508" y="5042624"/>
            <a:ext cx="38405" cy="430352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847920" y="5139522"/>
            <a:ext cx="38405" cy="236557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942332" y="4975557"/>
            <a:ext cx="38405" cy="564486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036744" y="4938731"/>
            <a:ext cx="38405" cy="63813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131156" y="5067799"/>
            <a:ext cx="38405" cy="380001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225567" y="5083933"/>
            <a:ext cx="38405" cy="347733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319979" y="5086118"/>
            <a:ext cx="38405" cy="34336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414391" y="5126696"/>
            <a:ext cx="38405" cy="26220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508803" y="5139343"/>
            <a:ext cx="38405" cy="236915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603215" y="5014792"/>
            <a:ext cx="38405" cy="486015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697626" y="4949442"/>
            <a:ext cx="38405" cy="616716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792038" y="5057697"/>
            <a:ext cx="38405" cy="400206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886450" y="5048594"/>
            <a:ext cx="38405" cy="418413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980862" y="4988065"/>
            <a:ext cx="38405" cy="539470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075274" y="5072116"/>
            <a:ext cx="38405" cy="37136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169685" y="5141681"/>
            <a:ext cx="38405" cy="232239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6264097" y="5093466"/>
            <a:ext cx="38405" cy="328669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358509" y="5017141"/>
            <a:ext cx="38405" cy="481317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6452921" y="5072818"/>
            <a:ext cx="38405" cy="369963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6547333" y="5039933"/>
            <a:ext cx="38405" cy="43573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6641744" y="4935427"/>
            <a:ext cx="38405" cy="644746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6736156" y="5008914"/>
            <a:ext cx="38405" cy="497771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6830568" y="5134049"/>
            <a:ext cx="38405" cy="247502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6924980" y="5096348"/>
            <a:ext cx="38405" cy="32290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7019392" y="5121255"/>
            <a:ext cx="38405" cy="273090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7113803" y="5106844"/>
            <a:ext cx="38405" cy="301912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7208215" y="5062319"/>
            <a:ext cx="38405" cy="390963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7302627" y="4944168"/>
            <a:ext cx="38405" cy="62726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7397039" y="4986753"/>
            <a:ext cx="38405" cy="54209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7491451" y="5125924"/>
            <a:ext cx="38405" cy="263753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7585862" y="5012651"/>
            <a:ext cx="38405" cy="49029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7680274" y="5054566"/>
            <a:ext cx="38405" cy="406469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7774686" y="5136813"/>
            <a:ext cx="38405" cy="241974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7869098" y="5110698"/>
            <a:ext cx="38405" cy="294203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C8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Chaplin AI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708392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47C8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  ·  Adam &amp; Jonathan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813</Words>
  <Application>Microsoft Office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Bahnschrift</vt:lpstr>
      <vt:lpstr>Consolas</vt:lpstr>
      <vt:lpstr>Segoe UI</vt:lpstr>
      <vt:lpstr>Segoe UI Emoji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Chaplin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chaplin.ai — AI agent pitch</dc:title>
  <dc:subject>PptxGenJS Presentation</dc:subject>
  <dc:creator>Adam</dc:creator>
  <cp:lastModifiedBy>Adam Sion</cp:lastModifiedBy>
  <cp:revision>9</cp:revision>
  <dcterms:created xsi:type="dcterms:W3CDTF">2026-06-10T17:50:19Z</dcterms:created>
  <dcterms:modified xsi:type="dcterms:W3CDTF">2026-06-14T07:12:26Z</dcterms:modified>
</cp:coreProperties>
</file>